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ln>
            <a:noFill/>
          </a:ln>
          <a:gradFill>
            <a:lin ang="900000" scaled="0"/>
            <a:gsLst>
              <a:gs pos="0">
                <a:srgbClr val="6C5CE7"/>
              </a:gs>
              <a:gs pos="60000">
                <a:srgbClr val="00D2D3"/>
              </a:gs>
              <a:gs pos="100000">
                <a:srgbClr val="6C5CE7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ln>
            <a:noFill/>
          </a:ln>
          <a:gradFill>
            <a:lin ang="0" scaled="0"/>
            <a:gsLst>
              <a:gs pos="0">
                <a:srgbClr val="0D0D0D"/>
              </a:gs>
              <a:gs pos="100000">
                <a:srgbClr val="1A1A1A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95935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Noto Sans CJK TC"/>
              </a:rPr>
              <a:t>安生診所 × Hermes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39593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FFFFF"/>
                </a:solidFill>
                <a:latin typeface="Noto Sans CJK TC"/>
              </a:rPr>
              <a:t>HIS 智慧升級提案
補足耀聖，打造 24hr 智慧病人體驗與精準經營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371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耀聖的極限：安生診所的日常挑戰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828800" cy="27432"/>
          </a:xfrm>
          <a:prstGeom prst="rect">
            <a:avLst/>
          </a:prstGeom>
          <a:ln>
            <a:noFill/>
          </a:ln>
          <a:gradFill>
            <a:lin ang="2700000" scaled="0"/>
            <a:gsLst>
              <a:gs pos="0">
                <a:srgbClr val="6C5CE7"/>
              </a:gs>
              <a:gs pos="100000">
                <a:srgbClr val="6C5CE7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病人只能在營業時間打電話預約，LINE 普及率高達 90% 以上卻無法 24hr 自助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病歷多為手動輸入，缺乏結構化與 AI 輔助，醫師耗時打字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經營報表需手動拉取，缺乏即時儀表板與預測洞察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庫存與效期管理依賴人工盯控，無用量預測與智能預警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安生與伊萊資料各自獨立，跨院區同步困難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療程追蹤與自動化關懷不足，病人流失風險高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• 客訴與異常事件多靠 LINE 文字紀錄，缺乏系統化稽核軌跡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Hermes 補足耀聖的關鍵效益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2453563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0878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50-70%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208780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電話預約量減少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123" y="1828800"/>
            <a:ext cx="2453563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8003" y="2103120"/>
            <a:ext cx="20878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5-10分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8003" y="3291840"/>
            <a:ext cx="208780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每診節省時間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6" y="1828800"/>
            <a:ext cx="2453563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6" y="2103120"/>
            <a:ext cx="20878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6" y="3291840"/>
            <a:ext cx="208780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no-show 降低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0889" y="1828800"/>
            <a:ext cx="2453563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69" y="2103120"/>
            <a:ext cx="208780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69" y="3291840"/>
            <a:ext cx="208780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回診率提升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10 大模組（一）：病人體驗與臨床智慧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LINE 智慧客服：耀聖網路掛號有限，病人仍依賴電話。Hermes LINE AI 24hr 自然語言預約、提醒、衛教。效益：電話量減 50-70%，病人滿意度大增。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療程管理引擎：療程追蹤靠人工。Hermes 組合定價 + 自動追蹤 + LINE 提醒。效益：回診率提升 25%，自費收入成長。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病人分群 CRM：資料難分群。Hermes 自動標籤 + 精準 LINE 推播。效益：行銷 ROI 提升，複診增加。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AI 病歷助手：病歷手打無結構化。Hermes 語音即轉結構化 SOAP 摘要。效益：每診省 5-10 分鐘，醫師專注看診。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經營儀表板：報表手動拉。Hermes 即時營收、來客、轉換儀表板。效益：老闆隨時決策，問題早發現。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10 大模組（二）：經營運營與治理合規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庫存智能預警：庫存靠人工盯。Hermes 用量預測 + 效期警示 + 建議採購。效益：浪費減 40%，缺貨率下降。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異常事件追蹤：客訴靠 LINE 文字。Hermes 結構化紀錄 + 稽核軌跡。效益：醫糾風險降低，合規準備容易。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表單數位化：紙本或基本電子。Hermes LINE 填寫 + 自動歸檔。效益：行政人力減，資料品質提升。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多院區同步：安生伊萊資料獨立。Hermes 統一中台即時同步。效益：跨院一致體驗，總部即時掌握。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>• 智慧排班：班表人工排。Hermes 需求預測 + 智能排班。效益：人力效率提升，病人等待時間縮短。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888888"/>
                </a:solidFill>
                <a:latin typeface="Noto Sans CJK TC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ln>
            <a:noFill/>
          </a:ln>
          <a:gradFill>
            <a:lin ang="2700000" scaled="0"/>
            <a:gsLst>
              <a:gs pos="0">
                <a:srgbClr val="6C5CE7"/>
              </a:gs>
              <a:gs pos="100000">
                <a:srgbClr val="0D0D0D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Hermes AI 作為中樞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C5CE7"/>
                </a:solidFill>
                <a:latin typeface="Noto Sans CJK TC"/>
              </a:rPr>
              <a:t>與耀聖 API 無縫整合，資料雙向同步，低風險升級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17520"/>
            <a:ext cx="5486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LINE 官方帳號深度整合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耀聖 HIS 現有功能完整保留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健保雲端與法規合規優先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即時資料同步與安全備份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7432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導入 Roadmap：三階段穩健推進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005840"/>
            <a:ext cx="27432" cy="5029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1 個月：快速見效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88888"/>
                </a:solidFill>
                <a:latin typeface="Noto Sans CJK TC"/>
              </a:rPr>
              <a:t>LINE 智慧客服上線 + 基本預約提醒。立即減少電話量 50% 以上。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3 個月：核心模組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88888"/>
                </a:solidFill>
                <a:latin typeface="Noto Sans CJK TC"/>
              </a:rPr>
              <a:t>AI 病歷助手、療程管理、經營儀表板上線。醫師效率與決策能力大幅提升。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319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6 個月：全面整合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9768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88888"/>
                </a:solidFill>
                <a:latin typeface="Noto Sans CJK TC"/>
              </a:rPr>
              <a:t>多院區同步、庫存預警、CRM、事件追蹤全開。與耀聖完成深度 API 整合。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預期效益：數據說話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907987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5422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50-70%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15422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電話預約量減少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9547" y="1828800"/>
            <a:ext cx="1907987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42427" y="2103120"/>
            <a:ext cx="15422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5-10分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2427" y="3291840"/>
            <a:ext cx="15422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每診節省時間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1854" y="1828800"/>
            <a:ext cx="1907987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4734" y="2103120"/>
            <a:ext cx="15422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4734" y="3291840"/>
            <a:ext cx="15422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no-show 降低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161" y="1828800"/>
            <a:ext cx="1907987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041" y="2103120"/>
            <a:ext cx="15422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041" y="3291840"/>
            <a:ext cx="15422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回診率提升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6468" y="1828800"/>
            <a:ext cx="1907987" cy="2743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89348" y="2103120"/>
            <a:ext cx="15422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6C5CE7"/>
                </a:solidFill>
                <a:latin typeface="Noto Sans CJK TC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9348" y="3291840"/>
            <a:ext cx="15422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888888"/>
                </a:solidFill>
                <a:latin typeface="Noto Sans CJK TC"/>
              </a:rPr>
              <a:t>庫存浪費減少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7432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與耀聖並存，API 整合零風險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521208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耀聖現有優勢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4632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健保申報與法規合規穩固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雲端電子病歷基礎完善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核心看診流程可靠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既有服務團隊支援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212080" cy="4572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>
            <a:noFill/>
          </a:ln>
          <a:effectLst>
            <a:outerShdw blurRad="365760" dist="182880" dir="27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Hermes 補足價值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84632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LINE 24hr 智慧病人體驗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AI 結構化病歷與分析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即時經營儀表板與預測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88888"/>
                </a:solidFill>
                <a:latin typeface="Noto Sans CJK TC"/>
              </a:rPr>
              <a:t>• API 無縫雙向同步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導入支援：我們與安生同行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828800" cy="27432"/>
          </a:xfrm>
          <a:prstGeom prst="rect">
            <a:avLst/>
          </a:prstGeom>
          <a:ln>
            <a:noFill/>
          </a:ln>
          <a:gradFill>
            <a:lin ang="2700000" scaled="0"/>
            <a:gsLst>
              <a:gs pos="0">
                <a:srgbClr val="6C5CE7"/>
              </a:gs>
              <a:gs pos="100000">
                <a:srgbClr val="6C5CE7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專屬顧問與 API 整合工程師全程支援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員工培訓與操作手冊，確保團隊快速上手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資料安全與健保合規優先，通過嚴格審核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每階段結束都有評估與優化會議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6 個月後提供全面營運檢討報告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Noto Sans CJK TC"/>
              </a:rPr>
              <a:t>安生診所的智慧未來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828800" cy="27432"/>
          </a:xfrm>
          <a:prstGeom prst="rect">
            <a:avLst/>
          </a:prstGeom>
          <a:ln>
            <a:noFill/>
          </a:ln>
          <a:gradFill>
            <a:lin ang="2700000" scaled="0"/>
            <a:gsLst>
              <a:gs pos="0">
                <a:srgbClr val="6C5CE7"/>
              </a:gs>
              <a:gs pos="100000">
                <a:srgbClr val="6C5CE7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病人 24hr 自助，滿意度與忠誠度提升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醫護人力釋放，專注高價值醫療服務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即時數據驅動決策，經營更精準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多院區統一，規模化優勢發揮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  <a:latin typeface="Noto Sans CJK TC"/>
              </a:rPr>
              <a:t>• • 低風險 API 整合，健保合規零妥協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lin ang="2700000" scaled="0"/>
            <a:gsLst>
              <a:gs pos="0">
                <a:srgbClr val="6C5CE7"/>
              </a:gs>
              <a:gs pos="50000">
                <a:srgbClr val="00D2D3"/>
              </a:gs>
              <a:gs pos="100000">
                <a:srgbClr val="6C5CE7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457200"/>
            <a:ext cx="914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</a:rPr>
              <a:t>下一步行動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4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Noto Sans CJK TC"/>
              </a:rPr>
              <a:t>與 Hermes 攜手，補足耀聖，開啟安生智慧新篇章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888888"/>
                </a:solidFill>
                <a:latin typeface="Noto Sans CJK TC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