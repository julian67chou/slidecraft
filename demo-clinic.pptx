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76495" cy="6858000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76495" y="0"/>
            <a:ext cx="7315200" cy="6858000"/>
          </a:xfrm>
          <a:prstGeom prst="rect">
            <a:avLst/>
          </a:prstGeom>
          <a:solidFill>
            <a:srgbClr val="FD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3959352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>
                <a:solidFill>
                  <a:srgbClr val="FFFFFF"/>
                </a:solidFill>
                <a:latin typeface="Noto Sans CJK TC"/>
              </a:rPr>
              <a:t>安生診所年度報告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3959352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FFFFFF"/>
                </a:solidFill>
                <a:latin typeface="Noto Sans CJK TC"/>
              </a:rPr>
              <a:t>2025-2026 醫療服務回顧與展望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00400"/>
            <a:ext cx="13716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2C2522"/>
                </a:solidFill>
                <a:latin typeface="Noto Sans CJK TC"/>
              </a:rPr>
              <a:t>核心數據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2727883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004A99"/>
                </a:solidFill>
                <a:latin typeface="Noto Sans CJK TC"/>
              </a:rPr>
              <a:t>12,847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2727883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0">
                <a:solidFill>
                  <a:srgbClr val="6B5F58"/>
                </a:solidFill>
                <a:latin typeface="Noto Sans CJK TC"/>
              </a:rPr>
              <a:t>門診人次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67963" y="1828800"/>
            <a:ext cx="2727883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004A99"/>
                </a:solidFill>
                <a:latin typeface="Noto Sans CJK TC"/>
              </a:rPr>
              <a:t>98.2%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67963" y="3017520"/>
            <a:ext cx="2727883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0">
                <a:solidFill>
                  <a:srgbClr val="6B5F58"/>
                </a:solidFill>
                <a:latin typeface="Noto Sans CJK TC"/>
              </a:rPr>
              <a:t>滿意度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6" y="1828800"/>
            <a:ext cx="2727883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004A99"/>
                </a:solidFill>
                <a:latin typeface="Noto Sans CJK TC"/>
              </a:rPr>
              <a:t>356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6" y="3017520"/>
            <a:ext cx="2727883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0">
                <a:solidFill>
                  <a:srgbClr val="6B5F58"/>
                </a:solidFill>
                <a:latin typeface="Noto Sans CJK TC"/>
              </a:rPr>
              <a:t>手術案例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729" y="1828800"/>
            <a:ext cx="2727883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004A99"/>
                </a:solidFill>
                <a:latin typeface="Noto Sans CJK TC"/>
              </a:rPr>
              <a:t>4.8★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729" y="3017520"/>
            <a:ext cx="2727883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0">
                <a:solidFill>
                  <a:srgbClr val="6B5F58"/>
                </a:solidFill>
                <a:latin typeface="Noto Sans CJK TC"/>
              </a:rPr>
              <a:t>Google評分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2C2522"/>
                </a:solidFill>
                <a:latin typeface="Noto Sans CJK TC"/>
              </a:rPr>
              <a:t>重點服務項目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38328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3017520" cy="4023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5F58"/>
                </a:solidFill>
                <a:latin typeface="Noto Sans CJK TC"/>
              </a:rPr>
              <a:t>• 預防醫學健檢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6B5F58"/>
                </a:solidFill>
                <a:latin typeface="Noto Sans CJK T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6B5F58"/>
                </a:solidFill>
                <a:latin typeface="Noto Sans CJK TC"/>
              </a:rPr>
              <a:t>• 微創手術中心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6B5F58"/>
                </a:solidFill>
                <a:latin typeface="Noto Sans CJK T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6B5F58"/>
                </a:solidFill>
                <a:latin typeface="Noto Sans CJK TC"/>
              </a:rPr>
              <a:t>• 營養與運動指導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6B5F58"/>
                </a:solidFill>
                <a:latin typeface="Noto Sans CJK TC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5112" y="1371600"/>
            <a:ext cx="338328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07992" y="1554480"/>
            <a:ext cx="3017520" cy="4023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5F58"/>
                </a:solidFill>
                <a:latin typeface="Noto Sans CJK TC"/>
              </a:rPr>
              <a:t>• 慢性病整合照護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6B5F58"/>
                </a:solidFill>
                <a:latin typeface="Noto Sans CJK T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6B5F58"/>
                </a:solidFill>
                <a:latin typeface="Noto Sans CJK TC"/>
              </a:rPr>
              <a:t>• 遠距醫療諮詢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6B5F58"/>
                </a:solidFill>
                <a:latin typeface="Noto Sans CJK T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6B5F58"/>
                </a:solidFill>
                <a:latin typeface="Noto Sans CJK TC"/>
              </a:rPr>
              <a:t>• 心理健康門診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6B5F58"/>
                </a:solidFill>
                <a:latin typeface="Noto Sans CJK TC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371600"/>
            <a:ext cx="338328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2C2522"/>
                </a:solidFill>
                <a:latin typeface="Noto Sans CJK TC"/>
              </a:rPr>
              <a:t>服務品質比較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21208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004A99"/>
                </a:solidFill>
                <a:latin typeface="Noto Sans CJK TC"/>
              </a:rPr>
              <a:t>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484632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5F58"/>
                </a:solidFill>
                <a:latin typeface="Noto Sans CJK TC"/>
              </a:rPr>
              <a:t>• 平均候診 25 分鐘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6B5F58"/>
                </a:solidFill>
                <a:latin typeface="Noto Sans CJK TC"/>
              </a:rPr>
              <a:t>• 滿意度 94%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6B5F58"/>
                </a:solidFill>
                <a:latin typeface="Noto Sans CJK TC"/>
              </a:rPr>
              <a:t>• 紙本病歷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280160"/>
            <a:ext cx="521208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46304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004A99"/>
                </a:solidFill>
                <a:latin typeface="Noto Sans CJK TC"/>
              </a:rPr>
              <a:t>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484632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5F58"/>
                </a:solidFill>
                <a:latin typeface="Noto Sans CJK TC"/>
              </a:rPr>
              <a:t>• 平均候診 12 分鐘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6B5F58"/>
                </a:solidFill>
                <a:latin typeface="Noto Sans CJK TC"/>
              </a:rPr>
              <a:t>• 滿意度 98%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6B5F58"/>
                </a:solidFill>
                <a:latin typeface="Noto Sans CJK TC"/>
              </a:rPr>
              <a:t>• 電子病歷系統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0" y="1371600"/>
            <a:ext cx="5486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2C2522"/>
                </a:solidFill>
                <a:latin typeface="Noto Sans CJK TC"/>
              </a:rPr>
              <a:t>全新影像診斷中心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286000"/>
            <a:ext cx="5486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004A99"/>
                </a:solidFill>
                <a:latin typeface="Noto Sans CJK TC"/>
              </a:rPr>
              <a:t>64排CT · 3T MRI · 數位X光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3017520"/>
            <a:ext cx="548640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5F58"/>
                </a:solidFill>
                <a:latin typeface="Noto Sans CJK TC"/>
              </a:rPr>
              <a:t>• 引進最新一代 AI 輔助診斷系統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6B5F58"/>
                </a:solidFill>
                <a:latin typeface="Noto Sans CJK TC"/>
              </a:rPr>
              <a:t>• 檢查報告 24 小時內完成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6B5F58"/>
                </a:solidFill>
                <a:latin typeface="Noto Sans CJK TC"/>
              </a:rPr>
              <a:t>• 放射科醫師雙簽核制度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1153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2C2522"/>
                </a:solidFill>
                <a:latin typeface="Noto Sans CJK TC"/>
              </a:rPr>
              <a:t>2026 發展藍圖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188720"/>
            <a:ext cx="548640" cy="548640"/>
          </a:xfrm>
          <a:prstGeom prst="ellipse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TC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18872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C2522"/>
                </a:solidFill>
                <a:latin typeface="Noto Sans CJK TC"/>
              </a:rPr>
              <a:t>Q1 系統升級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54480"/>
            <a:ext cx="9601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6B5F58"/>
                </a:solidFill>
                <a:latin typeface="Noto Sans CJK TC"/>
              </a:rPr>
              <a:t>HIS 系統全面上線，數位轉型第一階段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446020"/>
            <a:ext cx="548640" cy="548640"/>
          </a:xfrm>
          <a:prstGeom prst="ellipse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TC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44602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C2522"/>
                </a:solidFill>
                <a:latin typeface="Noto Sans CJK TC"/>
              </a:rPr>
              <a:t>Q2 人才擴編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811780"/>
            <a:ext cx="9601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6B5F58"/>
                </a:solidFill>
                <a:latin typeface="Noto Sans CJK TC"/>
              </a:rPr>
              <a:t>招募 3 位專科醫師 + 5 位護理師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703320"/>
            <a:ext cx="548640" cy="548640"/>
          </a:xfrm>
          <a:prstGeom prst="ellipse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T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70332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C2522"/>
                </a:solidFill>
                <a:latin typeface="Noto Sans CJK TC"/>
              </a:rPr>
              <a:t>Q3 服務拓展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069080"/>
            <a:ext cx="9601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6B5F58"/>
                </a:solidFill>
                <a:latin typeface="Noto Sans CJK TC"/>
              </a:rPr>
              <a:t>開設夜間門診與週六上午診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960620"/>
            <a:ext cx="548640" cy="548640"/>
          </a:xfrm>
          <a:prstGeom prst="ellipse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T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96062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C2522"/>
                </a:solidFill>
                <a:latin typeface="Noto Sans CJK TC"/>
              </a:rPr>
              <a:t>Q4 社區深耕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5326380"/>
            <a:ext cx="9601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6B5F58"/>
                </a:solidFill>
                <a:latin typeface="Noto Sans CJK TC"/>
              </a:rPr>
              <a:t>啟動 4 場社區健康講座與義診活動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1153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2C2522"/>
                </a:solidFill>
                <a:latin typeface="Noto Sans CJK TC"/>
              </a:rPr>
              <a:t>醫療團隊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521208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004A99"/>
                </a:solidFill>
                <a:latin typeface="Noto Sans CJK TC"/>
              </a:rPr>
              <a:t>內科部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484632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5F58"/>
                </a:solidFill>
                <a:latin typeface="Noto Sans CJK TC"/>
              </a:rPr>
              <a:t>• 5 位主治醫師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097280"/>
            <a:ext cx="521208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23444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004A99"/>
                </a:solidFill>
                <a:latin typeface="Noto Sans CJK TC"/>
              </a:rPr>
              <a:t>外科部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84632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5F58"/>
                </a:solidFill>
                <a:latin typeface="Noto Sans CJK TC"/>
              </a:rPr>
              <a:t>• 3 位主治醫師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840480"/>
            <a:ext cx="521208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7764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004A99"/>
                </a:solidFill>
                <a:latin typeface="Noto Sans CJK TC"/>
              </a:rPr>
              <a:t>影像部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89120"/>
            <a:ext cx="484632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5F58"/>
                </a:solidFill>
                <a:latin typeface="Noto Sans CJK TC"/>
              </a:rPr>
              <a:t>• 2 位放射師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840480"/>
            <a:ext cx="521208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97764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004A99"/>
                </a:solidFill>
                <a:latin typeface="Noto Sans CJK TC"/>
              </a:rPr>
              <a:t>護理部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389120"/>
            <a:ext cx="484632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5F58"/>
                </a:solidFill>
                <a:latin typeface="Noto Sans CJK TC"/>
              </a:rPr>
              <a:t>• 12 位護理師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5200" b="1">
                <a:solidFill>
                  <a:srgbClr val="FFFFFF"/>
                </a:solidFill>
                <a:latin typeface="Noto Sans CJK TC"/>
              </a:rPr>
              <a:t>感謝您的支持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5340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>
                <a:solidFill>
                  <a:srgbClr val="FFFFFF"/>
                </a:solidFill>
                <a:latin typeface="Noto Sans CJK TC"/>
              </a:rPr>
              <a:t>以人為本 · 品質至上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